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D51516-E6F7-4386-88D3-17E38E5C73C3}" v="14" dt="2026-10-22T00:21:09.56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6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onica Nain" userId="5f8ee9d9568ffb28" providerId="LiveId" clId="{6117292A-6C18-4F9B-A9AE-28194DB419FD}"/>
    <pc:docChg chg="modSld modMainMaster">
      <pc:chgData name="veronica Nain" userId="5f8ee9d9568ffb28" providerId="LiveId" clId="{6117292A-6C18-4F9B-A9AE-28194DB419FD}" dt="2026-10-22T21:55:04.556" v="20" actId="1076"/>
      <pc:docMkLst>
        <pc:docMk/>
      </pc:docMkLst>
      <pc:sldChg chg="modSp">
        <pc:chgData name="veronica Nain" userId="5f8ee9d9568ffb28" providerId="LiveId" clId="{6117292A-6C18-4F9B-A9AE-28194DB419FD}" dt="2026-10-22T00:21:09.564" v="13"/>
        <pc:sldMkLst>
          <pc:docMk/>
          <pc:sldMk cId="3315913726" sldId="256"/>
        </pc:sldMkLst>
        <pc:spChg chg="mod">
          <ac:chgData name="veronica Nain" userId="5f8ee9d9568ffb28" providerId="LiveId" clId="{6117292A-6C18-4F9B-A9AE-28194DB419FD}" dt="2026-10-22T00:21:09.564" v="13"/>
          <ac:spMkLst>
            <pc:docMk/>
            <pc:sldMk cId="3315913726" sldId="256"/>
            <ac:spMk id="2" creationId="{6F0F8751-81F5-2A37-202C-4A2C4B221092}"/>
          </ac:spMkLst>
        </pc:spChg>
        <pc:spChg chg="mod">
          <ac:chgData name="veronica Nain" userId="5f8ee9d9568ffb28" providerId="LiveId" clId="{6117292A-6C18-4F9B-A9AE-28194DB419FD}" dt="2026-10-22T00:21:09.564" v="13"/>
          <ac:spMkLst>
            <pc:docMk/>
            <pc:sldMk cId="3315913726" sldId="256"/>
            <ac:spMk id="3" creationId="{E831B8F4-C803-F8B1-04FE-BEE52279627D}"/>
          </ac:spMkLst>
        </pc:spChg>
      </pc:sldChg>
      <pc:sldChg chg="modSp mod">
        <pc:chgData name="veronica Nain" userId="5f8ee9d9568ffb28" providerId="LiveId" clId="{6117292A-6C18-4F9B-A9AE-28194DB419FD}" dt="2026-10-22T21:53:11.295" v="15" actId="1076"/>
        <pc:sldMkLst>
          <pc:docMk/>
          <pc:sldMk cId="2971387372" sldId="258"/>
        </pc:sldMkLst>
        <pc:picChg chg="mod">
          <ac:chgData name="veronica Nain" userId="5f8ee9d9568ffb28" providerId="LiveId" clId="{6117292A-6C18-4F9B-A9AE-28194DB419FD}" dt="2026-10-22T21:53:11.295" v="15" actId="1076"/>
          <ac:picMkLst>
            <pc:docMk/>
            <pc:sldMk cId="2971387372" sldId="258"/>
            <ac:picMk id="11" creationId="{893D73F4-1862-A59F-0BE2-441ED051E5EF}"/>
          </ac:picMkLst>
        </pc:picChg>
        <pc:picChg chg="mod">
          <ac:chgData name="veronica Nain" userId="5f8ee9d9568ffb28" providerId="LiveId" clId="{6117292A-6C18-4F9B-A9AE-28194DB419FD}" dt="2026-10-22T21:53:08.889" v="14" actId="1076"/>
          <ac:picMkLst>
            <pc:docMk/>
            <pc:sldMk cId="2971387372" sldId="258"/>
            <ac:picMk id="13" creationId="{417714BB-3B01-30D9-6E6A-7C434F1DB62C}"/>
          </ac:picMkLst>
        </pc:picChg>
      </pc:sldChg>
      <pc:sldChg chg="modSp mod">
        <pc:chgData name="veronica Nain" userId="5f8ee9d9568ffb28" providerId="LiveId" clId="{6117292A-6C18-4F9B-A9AE-28194DB419FD}" dt="2026-10-22T21:54:02.788" v="16" actId="14100"/>
        <pc:sldMkLst>
          <pc:docMk/>
          <pc:sldMk cId="1199117501" sldId="260"/>
        </pc:sldMkLst>
        <pc:picChg chg="mod">
          <ac:chgData name="veronica Nain" userId="5f8ee9d9568ffb28" providerId="LiveId" clId="{6117292A-6C18-4F9B-A9AE-28194DB419FD}" dt="2026-10-22T21:54:02.788" v="16" actId="14100"/>
          <ac:picMkLst>
            <pc:docMk/>
            <pc:sldMk cId="1199117501" sldId="260"/>
            <ac:picMk id="5" creationId="{FE7B02A3-D679-B6B4-8254-17E99FF01267}"/>
          </ac:picMkLst>
        </pc:picChg>
      </pc:sldChg>
      <pc:sldChg chg="modSp mod">
        <pc:chgData name="veronica Nain" userId="5f8ee9d9568ffb28" providerId="LiveId" clId="{6117292A-6C18-4F9B-A9AE-28194DB419FD}" dt="2026-10-22T21:54:28.036" v="18" actId="1076"/>
        <pc:sldMkLst>
          <pc:docMk/>
          <pc:sldMk cId="3040360592" sldId="261"/>
        </pc:sldMkLst>
        <pc:picChg chg="mod">
          <ac:chgData name="veronica Nain" userId="5f8ee9d9568ffb28" providerId="LiveId" clId="{6117292A-6C18-4F9B-A9AE-28194DB419FD}" dt="2026-10-22T21:54:25.568" v="17" actId="1076"/>
          <ac:picMkLst>
            <pc:docMk/>
            <pc:sldMk cId="3040360592" sldId="261"/>
            <ac:picMk id="5" creationId="{E4357776-1282-90CF-5837-F59B2EF5C59E}"/>
          </ac:picMkLst>
        </pc:picChg>
        <pc:picChg chg="mod">
          <ac:chgData name="veronica Nain" userId="5f8ee9d9568ffb28" providerId="LiveId" clId="{6117292A-6C18-4F9B-A9AE-28194DB419FD}" dt="2026-10-22T21:54:28.036" v="18" actId="1076"/>
          <ac:picMkLst>
            <pc:docMk/>
            <pc:sldMk cId="3040360592" sldId="261"/>
            <ac:picMk id="7" creationId="{E50FC3A4-E3D1-D720-9BFB-CB0F997D8785}"/>
          </ac:picMkLst>
        </pc:picChg>
      </pc:sldChg>
      <pc:sldChg chg="modSp mod">
        <pc:chgData name="veronica Nain" userId="5f8ee9d9568ffb28" providerId="LiveId" clId="{6117292A-6C18-4F9B-A9AE-28194DB419FD}" dt="2026-10-22T21:55:04.556" v="20" actId="1076"/>
        <pc:sldMkLst>
          <pc:docMk/>
          <pc:sldMk cId="1950303848" sldId="262"/>
        </pc:sldMkLst>
        <pc:picChg chg="mod">
          <ac:chgData name="veronica Nain" userId="5f8ee9d9568ffb28" providerId="LiveId" clId="{6117292A-6C18-4F9B-A9AE-28194DB419FD}" dt="2026-10-22T21:54:56.756" v="19" actId="14100"/>
          <ac:picMkLst>
            <pc:docMk/>
            <pc:sldMk cId="1950303848" sldId="262"/>
            <ac:picMk id="5" creationId="{E0443E9C-A813-DDD0-1F2E-B9431791F992}"/>
          </ac:picMkLst>
        </pc:picChg>
        <pc:picChg chg="mod">
          <ac:chgData name="veronica Nain" userId="5f8ee9d9568ffb28" providerId="LiveId" clId="{6117292A-6C18-4F9B-A9AE-28194DB419FD}" dt="2026-10-22T21:55:04.556" v="20" actId="1076"/>
          <ac:picMkLst>
            <pc:docMk/>
            <pc:sldMk cId="1950303848" sldId="262"/>
            <ac:picMk id="7" creationId="{4ABADC58-5C64-28D4-15E5-DBBD7A41DE7D}"/>
          </ac:picMkLst>
        </pc:picChg>
      </pc:sldChg>
      <pc:sldMasterChg chg="modSldLayout">
        <pc:chgData name="veronica Nain" userId="5f8ee9d9568ffb28" providerId="LiveId" clId="{6117292A-6C18-4F9B-A9AE-28194DB419FD}" dt="2026-10-22T00:20:20.371" v="9"/>
        <pc:sldMasterMkLst>
          <pc:docMk/>
          <pc:sldMasterMk cId="394141286" sldId="2147483801"/>
        </pc:sldMasterMkLst>
        <pc:sldLayoutChg chg="delSp">
          <pc:chgData name="veronica Nain" userId="5f8ee9d9568ffb28" providerId="LiveId" clId="{6117292A-6C18-4F9B-A9AE-28194DB419FD}" dt="2026-10-22T00:20:20.371" v="9"/>
          <pc:sldLayoutMkLst>
            <pc:docMk/>
            <pc:sldMasterMk cId="394141286" sldId="2147483801"/>
            <pc:sldLayoutMk cId="3844162809" sldId="2147483813"/>
          </pc:sldLayoutMkLst>
          <pc:cxnChg chg="del">
            <ac:chgData name="veronica Nain" userId="5f8ee9d9568ffb28" providerId="LiveId" clId="{6117292A-6C18-4F9B-A9AE-28194DB419FD}" dt="2026-10-22T00:20:20.371" v="9"/>
            <ac:cxnSpMkLst>
              <pc:docMk/>
              <pc:sldMasterMk cId="394141286" sldId="2147483801"/>
              <pc:sldLayoutMk cId="3844162809" sldId="2147483813"/>
              <ac:cxnSpMk id="8" creationId="{F05C310B-ED34-BA33-630C-F8D5EB2A41A2}"/>
            </ac:cxnSpMkLst>
          </pc:cxnChg>
          <pc:cxnChg chg="del">
            <ac:chgData name="veronica Nain" userId="5f8ee9d9568ffb28" providerId="LiveId" clId="{6117292A-6C18-4F9B-A9AE-28194DB419FD}" dt="2026-10-22T00:20:20.371" v="9"/>
            <ac:cxnSpMkLst>
              <pc:docMk/>
              <pc:sldMasterMk cId="394141286" sldId="2147483801"/>
              <pc:sldLayoutMk cId="3844162809" sldId="2147483813"/>
              <ac:cxnSpMk id="9" creationId="{C6B77E3C-9D50-9277-C646-D9B5AB8122BB}"/>
            </ac:cxnSpMkLst>
          </pc:cxn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6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911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641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7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00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167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2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451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359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52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7573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961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47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017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9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73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7F1A087-FA9A-4230-AA5F-77719FAA68DA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A7E1B-CFD2-4100-9A29-FCD86CED15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343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F8751-81F5-2A37-202C-4A2C4B2210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 list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31B8F4-C803-F8B1-04FE-BEE5227962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Using data analytics to understand customer satisfaction and identify business improvement opportunities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591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D1BDC-7EEF-83EF-3F9F-5C46F03E3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Business Problem and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FB6A6-EE01-4E5B-AE96-62103392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1257301"/>
            <a:ext cx="10599420" cy="4427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Business question</a:t>
            </a:r>
            <a:r>
              <a:rPr lang="en-US" sz="1200" dirty="0"/>
              <a:t>: What factors influence customer satisfaction and lead conversion success?</a:t>
            </a:r>
          </a:p>
          <a:p>
            <a:pPr marL="0" indent="0">
              <a:buNone/>
            </a:pPr>
            <a:r>
              <a:rPr lang="en-US" sz="1200" b="1" dirty="0"/>
              <a:t>Four objectives:</a:t>
            </a:r>
          </a:p>
          <a:p>
            <a:pPr lvl="0"/>
            <a:r>
              <a:rPr lang="en-US" sz="1200" dirty="0"/>
              <a:t>Analyze customer review-score distribution.</a:t>
            </a:r>
          </a:p>
          <a:p>
            <a:pPr lvl="0"/>
            <a:r>
              <a:rPr lang="en-US" sz="1200" dirty="0"/>
              <a:t>Identify the highest-converting lead sources.</a:t>
            </a:r>
          </a:p>
          <a:p>
            <a:pPr lvl="0"/>
            <a:r>
              <a:rPr lang="en-US" sz="1200" dirty="0"/>
              <a:t>Determine product categories associated with negative reviews.</a:t>
            </a:r>
          </a:p>
          <a:p>
            <a:pPr lvl="0"/>
            <a:r>
              <a:rPr lang="en-US" sz="1200" dirty="0"/>
              <a:t>Examine the relationship between delivery time and review scores.</a:t>
            </a:r>
          </a:p>
          <a:p>
            <a:pPr lvl="0"/>
            <a:endParaRPr lang="en-US" sz="1200" dirty="0"/>
          </a:p>
          <a:p>
            <a:pPr marL="0" lvl="0" indent="0">
              <a:buNone/>
            </a:pPr>
            <a:r>
              <a:rPr lang="en-US" sz="1200" dirty="0"/>
              <a:t>Identify actionable opportunities to improve customer experience and business performance.</a:t>
            </a:r>
          </a:p>
        </p:txBody>
      </p:sp>
    </p:spTree>
    <p:extLst>
      <p:ext uri="{BB962C8B-B14F-4D97-AF65-F5344CB8AC3E}">
        <p14:creationId xmlns:p14="http://schemas.microsoft.com/office/powerpoint/2010/main" val="200180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7D85-D750-FA70-028A-79EF5BF4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" y="365125"/>
            <a:ext cx="10507980" cy="450215"/>
          </a:xfrm>
        </p:spPr>
        <p:txBody>
          <a:bodyPr>
            <a:normAutofit/>
          </a:bodyPr>
          <a:lstStyle/>
          <a:p>
            <a:r>
              <a:rPr lang="en-US" sz="2000" dirty="0"/>
              <a:t>Data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E2A7-DF90-5523-7312-18B984AE5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891540"/>
            <a:ext cx="10805160" cy="59664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b="1" dirty="0"/>
              <a:t>Tools used</a:t>
            </a:r>
            <a:r>
              <a:rPr lang="en-US" sz="1100" dirty="0"/>
              <a:t>: Python, Pandas, Matplotlib, Seaborn, and Jupyter Notebook.</a:t>
            </a:r>
          </a:p>
          <a:p>
            <a:pPr marL="0" indent="0">
              <a:buNone/>
            </a:pPr>
            <a:r>
              <a:rPr lang="en-US" sz="1100" b="1" dirty="0"/>
              <a:t>Steps performed</a:t>
            </a:r>
            <a:r>
              <a:rPr lang="en-US" sz="1100" dirty="0"/>
              <a:t>:</a:t>
            </a:r>
          </a:p>
          <a:p>
            <a:pPr lvl="0"/>
            <a:r>
              <a:rPr lang="en-US" sz="1100" dirty="0"/>
              <a:t>Loaded and inspected CSV datasets.</a:t>
            </a:r>
          </a:p>
          <a:p>
            <a:pPr lvl="0"/>
            <a:r>
              <a:rPr lang="en-US" sz="1100" dirty="0"/>
              <a:t>Checked missing values, duplicates, and data types.</a:t>
            </a:r>
          </a:p>
          <a:p>
            <a:pPr lvl="0"/>
            <a:r>
              <a:rPr lang="en-US" sz="1100" dirty="0"/>
              <a:t>Merged relevant order, review, and product datasets.</a:t>
            </a:r>
          </a:p>
          <a:p>
            <a:pPr lvl="0"/>
            <a:r>
              <a:rPr lang="en-US" sz="1100" dirty="0"/>
              <a:t>Calculated summary statistics and conversion rates.</a:t>
            </a:r>
          </a:p>
          <a:p>
            <a:pPr lvl="0"/>
            <a:r>
              <a:rPr lang="en-US" sz="1100" dirty="0"/>
              <a:t>Created charts to communicate findings.</a:t>
            </a:r>
          </a:p>
          <a:p>
            <a:pPr marL="0" lvl="0" indent="0">
              <a:buNone/>
            </a:pPr>
            <a:r>
              <a:rPr lang="en-US" sz="1100" dirty="0"/>
              <a:t>Data cleaning and analysis transformed raw data into meaningful business insights.</a:t>
            </a:r>
          </a:p>
          <a:p>
            <a:pPr marL="0" lvl="0" indent="0">
              <a:buNone/>
            </a:pPr>
            <a:endParaRPr lang="en-US" sz="1100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3D73F4-1862-A59F-0BE2-441ED051E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335" y="3509158"/>
            <a:ext cx="4439812" cy="31121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17714BB-3B01-30D9-6E6A-7C434F1DB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83" y="3509158"/>
            <a:ext cx="3601652" cy="31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387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6DCB1-A958-BAAF-7548-B715F77C1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580" y="133961"/>
            <a:ext cx="10523220" cy="384199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Customer Review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CBE82-89BB-D9D8-EC4C-C5C0F6E83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94" y="457200"/>
            <a:ext cx="10693206" cy="6266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dirty="0"/>
              <a:t>Average review score: </a:t>
            </a:r>
            <a:r>
              <a:rPr lang="en-US" sz="1200" b="1" dirty="0"/>
              <a:t>4.09/5</a:t>
            </a:r>
          </a:p>
          <a:p>
            <a:pPr marL="0" indent="0">
              <a:buNone/>
            </a:pPr>
            <a:r>
              <a:rPr lang="en-US" sz="1200" dirty="0"/>
              <a:t>Five-star reviews:</a:t>
            </a:r>
            <a:r>
              <a:rPr lang="en-US" sz="1200" b="1" dirty="0"/>
              <a:t> 57.78%</a:t>
            </a:r>
            <a:endParaRPr lang="en-US" sz="1200" dirty="0"/>
          </a:p>
          <a:p>
            <a:pPr lvl="0"/>
            <a:r>
              <a:rPr lang="en-US" sz="1200" dirty="0"/>
              <a:t>Total reviews analyzed: </a:t>
            </a:r>
            <a:r>
              <a:rPr lang="en-US" sz="1200" b="1" dirty="0"/>
              <a:t>99,224.</a:t>
            </a:r>
          </a:p>
          <a:p>
            <a:pPr lvl="0"/>
            <a:r>
              <a:rPr lang="en-US" sz="1200" dirty="0"/>
              <a:t>One- and two-star reviews: approximately </a:t>
            </a:r>
            <a:r>
              <a:rPr lang="en-US" sz="1200" b="1" dirty="0"/>
              <a:t>14.69%.</a:t>
            </a:r>
          </a:p>
          <a:p>
            <a:pPr lvl="0"/>
            <a:r>
              <a:rPr lang="en-US" sz="1200" dirty="0"/>
              <a:t>Customer feedback was generally positive, but some customers were dissatisfied.</a:t>
            </a:r>
          </a:p>
          <a:p>
            <a:pPr marL="0" indent="0">
              <a:buNone/>
            </a:pPr>
            <a:r>
              <a:rPr lang="en-US" sz="1200" b="1" dirty="0"/>
              <a:t>Visual: </a:t>
            </a:r>
            <a:r>
              <a:rPr lang="en-US" sz="1200" dirty="0"/>
              <a:t>Bar chart showing the number of reviews for each score from one to five stars.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ECBE06-BD31-F81C-A012-4394FBAE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443540"/>
            <a:ext cx="4198620" cy="3413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F8F93-E412-05EC-2D55-C270F4EF8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54" y="2453641"/>
            <a:ext cx="4741986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760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FBE58-C552-9102-778A-E55F57B3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280" y="266701"/>
            <a:ext cx="9113520" cy="462928"/>
          </a:xfrm>
        </p:spPr>
        <p:txBody>
          <a:bodyPr>
            <a:normAutofit/>
          </a:bodyPr>
          <a:lstStyle/>
          <a:p>
            <a:r>
              <a:rPr lang="en-US" sz="2400" dirty="0"/>
              <a:t>Lead Conversion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7B02A3-D679-B6B4-8254-17E99FF012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879105"/>
            <a:ext cx="4888581" cy="3250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32025C-5B81-5FAC-C209-572A7183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891" y="879105"/>
            <a:ext cx="4117319" cy="32509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BE4C19-4DF3-6D67-889F-F2BAB1D9F536}"/>
              </a:ext>
            </a:extLst>
          </p:cNvPr>
          <p:cNvSpPr txBox="1"/>
          <p:nvPr/>
        </p:nvSpPr>
        <p:spPr>
          <a:xfrm>
            <a:off x="822960" y="4424965"/>
            <a:ext cx="828751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200" dirty="0"/>
              <a:t>- Paid search had the highest conversion rate among identifiable sources.</a:t>
            </a:r>
          </a:p>
          <a:p>
            <a:pPr lvl="0"/>
            <a:r>
              <a:rPr lang="en-US" sz="1200" dirty="0"/>
              <a:t>- Organic search generated the most closed leads: 271.</a:t>
            </a:r>
          </a:p>
          <a:p>
            <a:pPr lvl="0"/>
            <a:r>
              <a:rPr lang="en-US" sz="1200" dirty="0"/>
              <a:t>- Email and other lower-converting sources may need further investigation.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Visual:</a:t>
            </a:r>
            <a:r>
              <a:rPr lang="en-US" sz="1200" dirty="0"/>
              <a:t> Horizontal bar chart ranking conversion rates.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Business implication</a:t>
            </a:r>
            <a:r>
              <a:rPr lang="en-US" sz="1200" dirty="0"/>
              <a:t>: Assess marketing channels using conversion rates, lead volumes, acquisition costs, and revenue.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13F685-D803-7DB9-2E54-27B77653CF84}"/>
              </a:ext>
            </a:extLst>
          </p:cNvPr>
          <p:cNvSpPr txBox="1"/>
          <p:nvPr/>
        </p:nvSpPr>
        <p:spPr>
          <a:xfrm>
            <a:off x="6023960" y="4180146"/>
            <a:ext cx="3287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Conversion rate = closed leads ÷ qualified leads × 100</a:t>
            </a:r>
          </a:p>
        </p:txBody>
      </p:sp>
    </p:spTree>
    <p:extLst>
      <p:ext uri="{BB962C8B-B14F-4D97-AF65-F5344CB8AC3E}">
        <p14:creationId xmlns:p14="http://schemas.microsoft.com/office/powerpoint/2010/main" val="1199117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A521-3D7D-85E5-FC9B-BA797791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" y="68581"/>
            <a:ext cx="10637520" cy="298157"/>
          </a:xfrm>
        </p:spPr>
        <p:txBody>
          <a:bodyPr>
            <a:normAutofit fontScale="90000"/>
          </a:bodyPr>
          <a:lstStyle/>
          <a:p>
            <a:r>
              <a:rPr lang="en-US" sz="2000" dirty="0"/>
              <a:t>Product Categories and Negative Reviews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D9424-094E-87C6-8367-724060EDF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441960"/>
            <a:ext cx="10637520" cy="6416040"/>
          </a:xfrm>
        </p:spPr>
        <p:txBody>
          <a:bodyPr>
            <a:normAutofit/>
          </a:bodyPr>
          <a:lstStyle/>
          <a:p>
            <a:pPr lvl="0"/>
            <a:r>
              <a:rPr lang="en-US" sz="1300" dirty="0"/>
              <a:t>Cama_mesa_banho(Bed, table and bath) had the highest count of low-rated review associations among the categories shown in the analysis.</a:t>
            </a:r>
          </a:p>
          <a:p>
            <a:pPr lvl="0"/>
            <a:r>
              <a:rPr lang="en-US" sz="1300" dirty="0"/>
              <a:t>Other categories with substantial low-rated review counts included health and beauty(</a:t>
            </a:r>
            <a:r>
              <a:rPr lang="en-US" sz="1200" dirty="0"/>
              <a:t>beleza_saude</a:t>
            </a:r>
            <a:r>
              <a:rPr lang="en-US" sz="1300" dirty="0"/>
              <a:t>), furniture and décor(moveis_decoracao), and computers and accessories(informatica_acessorios).</a:t>
            </a:r>
          </a:p>
          <a:p>
            <a:pPr lvl="0"/>
            <a:r>
              <a:rPr lang="en-US" sz="1300" dirty="0"/>
              <a:t>Men's fashion(fashion_roupa_masculina), office furniture(moveis_escritorio), and audio appeared among categories with relatively high low-review rates in the filtered comparison.</a:t>
            </a:r>
          </a:p>
          <a:p>
            <a:pPr marL="0" indent="0">
              <a:buNone/>
            </a:pPr>
            <a:r>
              <a:rPr lang="en-US" sz="1300" b="1" dirty="0"/>
              <a:t>Visuals: </a:t>
            </a:r>
            <a:r>
              <a:rPr lang="en-US" sz="1300" dirty="0"/>
              <a:t>low-rated review counts and low-review rates.</a:t>
            </a:r>
          </a:p>
          <a:p>
            <a:pPr marL="0" indent="0">
              <a:buNone/>
            </a:pPr>
            <a:r>
              <a:rPr lang="en-US" sz="1300" b="1" dirty="0"/>
              <a:t>Business implication</a:t>
            </a:r>
            <a:r>
              <a:rPr lang="en-US" sz="1300" dirty="0"/>
              <a:t>: Investigate customer comments, product quality, seller performance, and the accuracy of product descriptions. Counts and rates measure different things.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57776-1282-90CF-5837-F59B2EF5C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57" y="2983494"/>
            <a:ext cx="4274820" cy="3432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0FC3A4-E3D1-D720-9BFB-CB0F997D8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054" y="2983494"/>
            <a:ext cx="4772929" cy="343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360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4CEE-EA44-7E8B-2221-5AB03AAE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1"/>
            <a:ext cx="10515600" cy="782866"/>
          </a:xfrm>
        </p:spPr>
        <p:txBody>
          <a:bodyPr>
            <a:normAutofit/>
          </a:bodyPr>
          <a:lstStyle/>
          <a:p>
            <a:r>
              <a:rPr lang="en-US" sz="2400" dirty="0"/>
              <a:t>Delivery Time and Customer Satisfaction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443E9C-A813-DDD0-1F2E-B9431791F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723899"/>
            <a:ext cx="5257800" cy="2705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BADC58-5C64-28D4-15E5-DBBD7A41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9127" y="723900"/>
            <a:ext cx="3360419" cy="2705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365DAD-80B2-3CA7-5CBA-B384791B36F0}"/>
              </a:ext>
            </a:extLst>
          </p:cNvPr>
          <p:cNvSpPr txBox="1"/>
          <p:nvPr/>
        </p:nvSpPr>
        <p:spPr>
          <a:xfrm>
            <a:off x="571500" y="3516459"/>
            <a:ext cx="60883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/>
              <a:t>Finding</a:t>
            </a:r>
            <a:r>
              <a:rPr lang="en-US" sz="1400" dirty="0"/>
              <a:t>: Average review scores declined as delivery time increased, with a sharper drop after 21 days.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sz="1400" b="1" dirty="0"/>
              <a:t>Business implication</a:t>
            </a:r>
            <a:r>
              <a:rPr lang="en-US" sz="1400" dirty="0"/>
              <a:t>: Investigate delays, improve shipment tracking, and proactively communicate delivery changes. This is an association, not proof of causation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0303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C8FE-FDA5-32CD-4858-241E86528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660" y="365125"/>
            <a:ext cx="11026140" cy="541655"/>
          </a:xfrm>
        </p:spPr>
        <p:txBody>
          <a:bodyPr>
            <a:normAutofit/>
          </a:bodyPr>
          <a:lstStyle/>
          <a:p>
            <a:r>
              <a:rPr lang="en-US" sz="2400" dirty="0"/>
              <a:t>Recommendations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61F49-F1F6-92DE-EA17-5036CA172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013460"/>
            <a:ext cx="10477500" cy="4114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b="1" dirty="0"/>
              <a:t>Four recommendations:</a:t>
            </a:r>
          </a:p>
          <a:p>
            <a:pPr lvl="0"/>
            <a:r>
              <a:rPr lang="en-US" sz="1500" dirty="0"/>
              <a:t>Reduce delivery delays and improve customer communication.</a:t>
            </a:r>
          </a:p>
          <a:p>
            <a:pPr lvl="0"/>
            <a:r>
              <a:rPr lang="en-US" sz="1500" dirty="0"/>
              <a:t>Investigate recurring negative reviews in priority product categories.</a:t>
            </a:r>
          </a:p>
          <a:p>
            <a:pPr lvl="0"/>
            <a:r>
              <a:rPr lang="en-US" sz="1500" dirty="0"/>
              <a:t>Evaluate high-performing marketing sources and improve weaker channels.</a:t>
            </a:r>
          </a:p>
          <a:p>
            <a:pPr lvl="0"/>
            <a:r>
              <a:rPr lang="en-US" sz="1500" dirty="0"/>
              <a:t>Monitor customer satisfaction and operational performance regularly.</a:t>
            </a:r>
          </a:p>
          <a:p>
            <a:pPr lvl="0"/>
            <a:endParaRPr lang="en-US" sz="1500" dirty="0"/>
          </a:p>
          <a:p>
            <a:pPr marL="0" indent="0">
              <a:buNone/>
            </a:pPr>
            <a:r>
              <a:rPr lang="en-US" sz="1500" b="1" dirty="0"/>
              <a:t>Conclusion</a:t>
            </a:r>
            <a:r>
              <a:rPr lang="en-US" sz="1500" dirty="0"/>
              <a:t>: The analysis demonstrates how Python and visualization can support evidence-based decisions about customer experience, marketing, and logistics.</a:t>
            </a:r>
          </a:p>
          <a:p>
            <a:pPr marL="0" indent="0">
              <a:buNone/>
            </a:pPr>
            <a:endParaRPr lang="en-US" sz="15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4844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240</TotalTime>
  <Words>526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O list Data Analysis</vt:lpstr>
      <vt:lpstr>Business Problem and Objectives</vt:lpstr>
      <vt:lpstr>Data and Methodology</vt:lpstr>
      <vt:lpstr>Customer Review Analysis</vt:lpstr>
      <vt:lpstr>Lead Conversion Analysis</vt:lpstr>
      <vt:lpstr>Product Categories and Negative Reviews</vt:lpstr>
      <vt:lpstr>Delivery Time and Customer Satisfaction</vt:lpstr>
      <vt:lpstr>Recommendations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veronica Nain</dc:creator>
  <cp:lastModifiedBy>veronica Nain</cp:lastModifiedBy>
  <cp:revision>1</cp:revision>
  <dcterms:created xsi:type="dcterms:W3CDTF">2026-10-21T20:39:33Z</dcterms:created>
  <dcterms:modified xsi:type="dcterms:W3CDTF">2026-10-22T21:55:05Z</dcterms:modified>
</cp:coreProperties>
</file>